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03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Introduce yourself and the thesis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Stress: LLM exits the loop once it hands off R(s,a).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Walk left-to-right. Emphasise the one-shot boundary between LLM and PPO.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Keep this brief — just confirm Actor-Critic done and PPO underway. No equations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Stress the SB3 decision — this is a direct response to Dr Redder's advice. Most time must go to LLM+Sim-to-Real.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 min — spend the most time here. Each question should prompt discussion. Listen for feedback on DSL design and metric definition in particular.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 Wrap up and hand over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280160"/>
            <a:ext cx="5303520" cy="530352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474720" cy="34747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955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Reward Synthesis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190195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Open-Ended Navigation with Autonomous Systems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94360" y="278892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Presentation  |  July 06,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3182112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 Paderborn  |  Automatic Control Group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Adrian Redder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Thesis Goal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1480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requires hand-engineered reward functions — doesn't scale to open-ended language instructions
</a:t>
            </a: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rich semantic knowledge but no direct path to low-level robot control
</a:t>
            </a: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LLMs write control code directly is often slow and unsafe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17720" y="841248"/>
            <a:ext cx="4160520" cy="3886200"/>
          </a:xfrm>
          <a:prstGeom prst="roundRect">
            <a:avLst>
              <a:gd name="adj" fmla="val 2118"/>
            </a:avLst>
          </a:prstGeom>
          <a:solidFill>
            <a:srgbClr val="0F1B2D"/>
          </a:solidFill>
          <a:ln w="762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4800600" y="932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00600" y="13533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Reward Synthesis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755648"/>
            <a:ext cx="3794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a one-shot compiler: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Reads a natural-language task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Generates executable reward code (DSL)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RL agent trains fully autonomously</a:t>
            </a:r>
            <a:endParaRPr lang="en-US" sz="12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Policy deploys on real ROSbot 3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5488" y="96012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0D9488"/>
          </a:solidFill>
          <a:ln w="1016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530352" y="1051560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176479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"Find the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room"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42616" y="96012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1A3050"/>
          </a:solidFill>
          <a:ln w="1016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697480" y="1051560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Oracle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(One-Shot)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176479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r>
              <a:rPr lang="en-US" sz="1050" dirty="0"/>
              <a:t> </a:t>
            </a: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Code (DSL)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9744" y="96012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1A3050"/>
          </a:solidFill>
          <a:ln w="1016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864608" y="1051560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76479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policy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π(a|s) via interaction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76872" y="960120"/>
            <a:ext cx="1737360" cy="1691640"/>
          </a:xfrm>
          <a:prstGeom prst="roundRect">
            <a:avLst>
              <a:gd name="adj" fmla="val 5405"/>
            </a:avLst>
          </a:prstGeom>
          <a:solidFill>
            <a:srgbClr val="0D4A3A"/>
          </a:solidFill>
          <a:ln w="1016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7031736" y="1051560"/>
            <a:ext cx="1627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ROSbot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(Real World)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31736" y="1764792"/>
            <a:ext cx="1627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999232"/>
            <a:ext cx="8503920" cy="1691640"/>
          </a:xfrm>
          <a:prstGeom prst="roundRect">
            <a:avLst>
              <a:gd name="adj" fmla="val 4865"/>
            </a:avLst>
          </a:prstGeom>
          <a:solidFill>
            <a:srgbClr val="1A3050"/>
          </a:solidFill>
          <a:ln w="762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502920" y="309067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438144"/>
            <a:ext cx="8229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is a compiler, not a runtime participant.  Once Reward function is handed off, PPO trains fully autonomously .</a:t>
            </a:r>
            <a:endParaRPr lang="en-US" sz="1250" dirty="0"/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0022607B-5CBC-A6F5-C7D5-CB6DDE18CC21}"/>
              </a:ext>
            </a:extLst>
          </p:cNvPr>
          <p:cNvSpPr/>
          <p:nvPr/>
        </p:nvSpPr>
        <p:spPr>
          <a:xfrm>
            <a:off x="2100834" y="1566728"/>
            <a:ext cx="667512" cy="56382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Pfeil: nach rechts 34">
            <a:extLst>
              <a:ext uri="{FF2B5EF4-FFF2-40B4-BE49-F238E27FC236}">
                <a16:creationId xmlns:a16="http://schemas.microsoft.com/office/drawing/2014/main" id="{B711D5FC-5146-4719-4B4A-5E205EBD9CC9}"/>
              </a:ext>
            </a:extLst>
          </p:cNvPr>
          <p:cNvSpPr/>
          <p:nvPr/>
        </p:nvSpPr>
        <p:spPr>
          <a:xfrm>
            <a:off x="6421374" y="1566728"/>
            <a:ext cx="667512" cy="56382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Pfeil: nach rechts 36">
            <a:extLst>
              <a:ext uri="{FF2B5EF4-FFF2-40B4-BE49-F238E27FC236}">
                <a16:creationId xmlns:a16="http://schemas.microsoft.com/office/drawing/2014/main" id="{EBC66259-D43F-A093-3FF6-DA1841C6F2C1}"/>
              </a:ext>
            </a:extLst>
          </p:cNvPr>
          <p:cNvSpPr/>
          <p:nvPr/>
        </p:nvSpPr>
        <p:spPr>
          <a:xfrm>
            <a:off x="4279393" y="1528600"/>
            <a:ext cx="667512" cy="563824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9" y="1069848"/>
            <a:ext cx="3993134" cy="3886200"/>
          </a:xfrm>
          <a:prstGeom prst="roundRect">
            <a:avLst>
              <a:gd name="adj" fmla="val 2118"/>
            </a:avLst>
          </a:prstGeom>
          <a:solidFill>
            <a:srgbClr val="D1FAE5"/>
          </a:solidFill>
          <a:ln w="7620">
            <a:solidFill>
              <a:srgbClr val="0186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64009" y="94792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018644"/>
          </a:solidFill>
          <a:ln w="12700">
            <a:solidFill>
              <a:srgbClr val="0186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0" y="978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0741" y="14859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Actor-Critic Foundation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0741" y="1801368"/>
            <a:ext cx="21793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018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 formally defined — state, action, reward, discount
</a:t>
            </a:r>
            <a:r>
              <a:rPr lang="en-US" sz="1250" b="1" dirty="0">
                <a:solidFill>
                  <a:srgbClr val="018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architecture implemented end-to-end
</a:t>
            </a:r>
            <a:r>
              <a:rPr lang="en-US" sz="1250" b="1" dirty="0">
                <a:solidFill>
                  <a:srgbClr val="018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RL loop: observe, act, receive reward, update
</a:t>
            </a:r>
            <a:r>
              <a:rPr lang="en-US" sz="1250" b="1" dirty="0">
                <a:solidFill>
                  <a:srgbClr val="0186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TD-learning and value estimation working in code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2" y="1069848"/>
            <a:ext cx="3909222" cy="3886200"/>
          </a:xfrm>
          <a:prstGeom prst="roundRect">
            <a:avLst>
              <a:gd name="adj" fmla="val 2118"/>
            </a:avLst>
          </a:prstGeom>
          <a:solidFill>
            <a:srgbClr val="FEF9E7"/>
          </a:solidFill>
          <a:ln w="7620">
            <a:solidFill>
              <a:srgbClr val="B45309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1" name="Shape 9"/>
          <p:cNvSpPr/>
          <p:nvPr/>
        </p:nvSpPr>
        <p:spPr>
          <a:xfrm>
            <a:off x="4892042" y="978408"/>
            <a:ext cx="1554480" cy="329184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DE" dirty="0"/>
          </a:p>
        </p:txBody>
      </p:sp>
      <p:sp>
        <p:nvSpPr>
          <p:cNvPr id="12" name="Text 10"/>
          <p:cNvSpPr/>
          <p:nvPr/>
        </p:nvSpPr>
        <p:spPr>
          <a:xfrm>
            <a:off x="4721417" y="9738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53650" y="14859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PPO Implementation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3650" y="1879092"/>
            <a:ext cx="2351532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Actor-Critic to full PPO with clipped surrogate objective
</a:t>
            </a: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Generalised Advantage Estimation (GAE) integrated
</a:t>
            </a: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Shared-backbone neural network (actor + critic heads)
</a:t>
            </a: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validate PPO in simulation before integrating LLM Oracle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Plan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929384"/>
            <a:ext cx="8229600" cy="7315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Shape 4"/>
          <p:cNvSpPr/>
          <p:nvPr/>
        </p:nvSpPr>
        <p:spPr>
          <a:xfrm>
            <a:off x="338328" y="1801368"/>
            <a:ext cx="329184" cy="32918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-274320" y="14538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-221305" y="2103120"/>
            <a:ext cx="175292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through SB3+PyTorch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84708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1783080" y="14538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Oracle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83080" y="2194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thesis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98848" y="184708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840480" y="14538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DSL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API Design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0" y="2194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API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safe code gen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56248" y="184708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5897880" y="14538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ROSbot 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97880" y="2194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-&gt; Physical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613648" y="1847088"/>
            <a:ext cx="237744" cy="23774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7955280" y="14538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Thesis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55280" y="219456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&amp; Tier-2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16000"/>
            </a:srgbClr>
          </a:solidFill>
          <a:ln w="12700">
            <a:solidFill>
              <a:srgbClr val="0D948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Research Questions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15568"/>
          </a:xfrm>
          <a:prstGeom prst="roundRect">
            <a:avLst>
              <a:gd name="adj" fmla="val 7377"/>
            </a:avLst>
          </a:prstGeom>
          <a:solidFill>
            <a:srgbClr val="1A3050"/>
          </a:solidFill>
          <a:ln w="762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 Reward DSL Granularity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3502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expressive must the constrained API be so the LLM can generate reward functions that are both safe to execute and rich enough to train a policy? What sub-reward primitives are necessary and sufficient for navigation tasks?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157984"/>
            <a:ext cx="8503920" cy="1115568"/>
          </a:xfrm>
          <a:prstGeom prst="roundRect">
            <a:avLst>
              <a:gd name="adj" fmla="val 7377"/>
            </a:avLst>
          </a:prstGeom>
          <a:solidFill>
            <a:srgbClr val="1A3050"/>
          </a:solidFill>
          <a:ln w="7620">
            <a:solidFill>
              <a:srgbClr val="38BDF8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 Sim-to-Real Transfer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policy trained entirely in Gazebo simulation transfer to a physical ROSbot 3 without additional fine-tuning? What are the biggest sources of the sim-to-real gap for this robot platform?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419856"/>
            <a:ext cx="8503920" cy="1115568"/>
          </a:xfrm>
          <a:prstGeom prst="roundRect">
            <a:avLst>
              <a:gd name="adj" fmla="val 7377"/>
            </a:avLst>
          </a:prstGeom>
          <a:solidFill>
            <a:srgbClr val="1A3050"/>
          </a:solidFill>
          <a:ln w="7620">
            <a:solidFill>
              <a:srgbClr val="5EEAD4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02920" y="35112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 Evaluation &amp; Success Metrics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38587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success be defined and measured across evaluation tiers? Tier-1 (object search) and Tier-2 (topological navigation) may require different metrics — what thresholds distinguish meaningful task completion?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749808"/>
          </a:xfrm>
          <a:prstGeom prst="roundRect">
            <a:avLst>
              <a:gd name="adj" fmla="val 10976"/>
            </a:avLst>
          </a:prstGeom>
          <a:solidFill>
            <a:srgbClr val="1A3050"/>
          </a:solidFill>
          <a:ln w="7620">
            <a:solidFill>
              <a:srgbClr val="1A30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530352" y="8778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84832" y="950976"/>
            <a:ext cx="3657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212848" y="859536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generates reward code  -&gt;  PPO learns autonomously  -&gt;   Deployment on 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ROSbot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49808"/>
          </a:xfrm>
          <a:prstGeom prst="roundRect">
            <a:avLst>
              <a:gd name="adj" fmla="val 10976"/>
            </a:avLst>
          </a:prstGeom>
          <a:solidFill>
            <a:srgbClr val="1A3050"/>
          </a:solidFill>
          <a:ln w="7620">
            <a:solidFill>
              <a:srgbClr val="1A30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530352" y="17922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84832" y="1865376"/>
            <a:ext cx="3657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2212848" y="1773936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as one-shot compiler + PPO as the learning system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8412480" cy="749808"/>
          </a:xfrm>
          <a:prstGeom prst="roundRect">
            <a:avLst>
              <a:gd name="adj" fmla="val 10976"/>
            </a:avLst>
          </a:prstGeom>
          <a:solidFill>
            <a:srgbClr val="1A3050"/>
          </a:solidFill>
          <a:ln w="7620">
            <a:solidFill>
              <a:srgbClr val="1A30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530352" y="27066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84832" y="2779776"/>
            <a:ext cx="3657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2212848" y="2688336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Actor-Critic complete. PPO integration underway 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8412480" cy="749808"/>
          </a:xfrm>
          <a:prstGeom prst="roundRect">
            <a:avLst>
              <a:gd name="adj" fmla="val 10976"/>
            </a:avLst>
          </a:prstGeom>
          <a:solidFill>
            <a:srgbClr val="1A3050"/>
          </a:solidFill>
          <a:ln w="7620">
            <a:solidFill>
              <a:srgbClr val="1A3050"/>
            </a:solidFill>
            <a:prstDash val="solid"/>
          </a:ln>
          <a:effectLst>
            <a:outerShdw blurRad="101600" dist="381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530352" y="3621024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84832" y="3694176"/>
            <a:ext cx="36576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2212848" y="3602736"/>
            <a:ext cx="6355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(via SB3 + </a:t>
            </a:r>
            <a:r>
              <a:rPr lang="en-US" sz="120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  -&gt;  LLM Oracle &amp; DSL design  -&gt;  Reward synthesis pipeline  -&gt;  Sim-to-Real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643</Words>
  <Application>Microsoft Office PowerPoint</Application>
  <PresentationFormat>Bildschirmpräsentation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Reward Synthesis – Kick-Off</dc:title>
  <dc:subject>PptxGenJS Presentation</dc:subject>
  <dc:creator>PptxGenJS</dc:creator>
  <cp:lastModifiedBy>Mohamed Amine ABDELWAHD</cp:lastModifiedBy>
  <cp:revision>5</cp:revision>
  <dcterms:created xsi:type="dcterms:W3CDTF">2026-07-05T19:23:25Z</dcterms:created>
  <dcterms:modified xsi:type="dcterms:W3CDTF">2026-07-06T09:02:29Z</dcterms:modified>
</cp:coreProperties>
</file>